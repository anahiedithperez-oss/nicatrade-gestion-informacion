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rgbClr val="2B2118"/>
                </a:solidFill>
                <a:latin typeface="Calibri"/>
                <a:ea typeface="+mn-ea"/>
                <a:cs typeface="+mn-cs"/>
              </a:defRPr>
            </a:pPr>
            <a:r>
              <a:rPr lang="es-MX" sz="1300" b="1" i="0" u="none" strike="noStrike">
                <a:solidFill>
                  <a:srgbClr val="2B2118"/>
                </a:solidFill>
                <a:latin typeface="Calibri"/>
              </a:rPr>
              <a:t>Distribución de Productos por Categoría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baseline="0">
              <a:solidFill>
                <a:srgbClr val="2B2118"/>
              </a:solidFill>
              <a:latin typeface="Calibri"/>
              <a:ea typeface="+mn-ea"/>
              <a:cs typeface="+mn-cs"/>
            </a:defRPr>
          </a:pPr>
          <a:endParaRPr lang="es-NI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Productos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3">
                  <a:shade val="4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CC-4A3E-9FE4-13A905362C84}"/>
              </c:ext>
            </c:extLst>
          </c:dPt>
          <c:dPt>
            <c:idx val="1"/>
            <c:bubble3D val="0"/>
            <c:spPr>
              <a:solidFill>
                <a:schemeClr val="accent3">
                  <a:shade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CC-4A3E-9FE4-13A905362C84}"/>
              </c:ext>
            </c:extLst>
          </c:dPt>
          <c:dPt>
            <c:idx val="2"/>
            <c:bubble3D val="0"/>
            <c:spPr>
              <a:solidFill>
                <a:schemeClr val="accent3">
                  <a:shade val="82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7CC-4A3E-9FE4-13A905362C84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7CC-4A3E-9FE4-13A905362C84}"/>
              </c:ext>
            </c:extLst>
          </c:dPt>
          <c:dPt>
            <c:idx val="4"/>
            <c:bubble3D val="0"/>
            <c:spPr>
              <a:solidFill>
                <a:schemeClr val="accent3">
                  <a:tint val="8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7CC-4A3E-9FE4-13A905362C84}"/>
              </c:ext>
            </c:extLst>
          </c:dPt>
          <c:dPt>
            <c:idx val="5"/>
            <c:bubble3D val="0"/>
            <c:spPr>
              <a:solidFill>
                <a:schemeClr val="accent3">
                  <a:tint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7CC-4A3E-9FE4-13A905362C84}"/>
              </c:ext>
            </c:extLst>
          </c:dPt>
          <c:dPt>
            <c:idx val="6"/>
            <c:bubble3D val="0"/>
            <c:spPr>
              <a:solidFill>
                <a:schemeClr val="accent3">
                  <a:tint val="4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7CC-4A3E-9FE4-13A905362C84}"/>
              </c:ext>
            </c:extLst>
          </c:dPt>
          <c:dLbls>
            <c:dLbl>
              <c:idx val="0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CC-4A3E-9FE4-13A905362C84}"/>
                </c:ext>
              </c:extLst>
            </c:dLbl>
            <c:dLbl>
              <c:idx val="1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CC-4A3E-9FE4-13A905362C84}"/>
                </c:ext>
              </c:extLst>
            </c:dLbl>
            <c:dLbl>
              <c:idx val="2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CC-4A3E-9FE4-13A905362C84}"/>
                </c:ext>
              </c:extLst>
            </c:dLbl>
            <c:dLbl>
              <c:idx val="3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CC-4A3E-9FE4-13A905362C84}"/>
                </c:ext>
              </c:extLst>
            </c:dLbl>
            <c:dLbl>
              <c:idx val="4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CC-4A3E-9FE4-13A905362C84}"/>
                </c:ext>
              </c:extLst>
            </c:dLbl>
            <c:dLbl>
              <c:idx val="5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CC-4A3E-9FE4-13A905362C84}"/>
                </c:ext>
              </c:extLst>
            </c:dLbl>
            <c:dLbl>
              <c:idx val="6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FFFFFF"/>
                      </a:solidFill>
                      <a:latin typeface="Calibri"/>
                      <a:ea typeface="+mn-ea"/>
                      <a:cs typeface="+mn-cs"/>
                    </a:defRPr>
                  </a:pPr>
                  <a:endParaRPr lang="es-NI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7CC-4A3E-9FE4-13A905362C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es-NI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Alimentos</c:v>
                </c:pt>
                <c:pt idx="1">
                  <c:v>Accesorios</c:v>
                </c:pt>
                <c:pt idx="2">
                  <c:v>Hogar</c:v>
                </c:pt>
                <c:pt idx="3">
                  <c:v>Oficina</c:v>
                </c:pt>
                <c:pt idx="4">
                  <c:v>Tecnología</c:v>
                </c:pt>
                <c:pt idx="5">
                  <c:v>Bebidas</c:v>
                </c:pt>
                <c:pt idx="6">
                  <c:v>Limpieza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7CC-4A3E-9FE4-13A905362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Calibri"/>
              <a:ea typeface="+mn-ea"/>
              <a:cs typeface="Calibri"/>
            </a:defRPr>
          </a:pPr>
          <a:endParaRPr lang="es-NI"/>
        </a:p>
      </c:txPr>
    </c:legend>
    <c:plotVisOnly val="1"/>
    <c:dispBlanksAs val="span"/>
    <c:showDLblsOverMax val="1"/>
  </c:chart>
  <c:spPr>
    <a:noFill/>
    <a:ln w="9525" cap="rnd" cmpd="sng" algn="ctr">
      <a:noFill/>
      <a:prstDash val="solid"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37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939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51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8021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373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9830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473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711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05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906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4997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11107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9041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4400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1663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71424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1472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62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46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chemeClr val="tx2">
              <a:lumMod val="40000"/>
              <a:lumOff val="60000"/>
              <a:alpha val="7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NICATRADE INTERNATIONAL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7F1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Operación de Importación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061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1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 →  Nicaragua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7F1E8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754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0749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Anahí Edith Perez Zeledón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Krisbell Alise Canales Otero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1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17 de septiembre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Empresa y Operación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527048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la empresa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56232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nicaragüense dedicada a la importación y exportación de productos alimenticios y de consumo hacia mercados de Centroamérica.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06324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analizada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92424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de un lote de 50 productos de consumo (alimentos, bebidas, limpieza, hogar, oficina, tecnología y accesorios) para su comercialización en Nicaragua.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00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599432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y destino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928616"/>
            <a:ext cx="5650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de los 50 productos proceden de México; 3 productos complementarios llegan de Guatemala, Costa Rica y El Salvador. Destino final: Nicaragua.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1600200"/>
            <a:ext cx="4754880" cy="4892040"/>
          </a:xfrm>
          <a:prstGeom prst="roundRect">
            <a:avLst>
              <a:gd name="adj" fmla="val 1923"/>
            </a:avLst>
          </a:prstGeom>
          <a:solidFill>
            <a:srgbClr val="F1E9D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7804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POR CATEGORÍA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2340864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83112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862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Accesorios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2916936"/>
            <a:ext cx="1109472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15144" y="28437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4381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3493008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56648" y="34198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0142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2520" y="4069080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56648" y="3995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590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32520" y="4645152"/>
            <a:ext cx="950976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56648" y="4572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166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32520" y="5221224"/>
            <a:ext cx="792480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598152" y="5148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742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32520" y="5797296"/>
            <a:ext cx="792480" cy="219456"/>
          </a:xfrm>
          <a:prstGeom prst="roundRect">
            <a:avLst>
              <a:gd name="adj" fmla="val 16667"/>
            </a:avLst>
          </a:prstGeom>
          <a:solidFill>
            <a:srgbClr val="7C988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598152" y="5724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50608" y="6208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50 productos registrados</a:t>
            </a: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del Análisis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Obtenidos </a:t>
            </a:r>
            <a:r>
              <a:rPr lang="en-US" sz="14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 </a:t>
            </a:r>
            <a:r>
              <a:rPr lang="en-US" sz="14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hoja de </a:t>
            </a:r>
            <a:r>
              <a:rPr lang="en-US" sz="1400" i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1920240"/>
          </a:xfrm>
          <a:prstGeom prst="roundRect">
            <a:avLst>
              <a:gd name="adj" fmla="val 4762"/>
            </a:avLst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$40,359.00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Importe total de la </a:t>
            </a:r>
            <a:r>
              <a:rPr lang="en-US" sz="11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743200" cy="1920240"/>
          </a:xfrm>
          <a:prstGeom prst="roundRect">
            <a:avLst>
              <a:gd name="adj" fmla="val 4762"/>
            </a:avLst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033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Mochilas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con mayor importe ($1,912.50)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977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$7.74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 por producto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3749040"/>
            <a:ext cx="2743200" cy="1920240"/>
          </a:xfrm>
          <a:prstGeom prst="roundRect">
            <a:avLst>
              <a:gd name="adj" fmla="val 4762"/>
            </a:avLst>
          </a:prstGeom>
          <a:solidFill>
            <a:schemeClr val="tx2">
              <a:lumMod val="40000"/>
              <a:lumOff val="60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03320" y="3977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4800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registrados</a:t>
            </a:r>
            <a:endParaRPr lang="en-US" sz="11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845192589"/>
              </p:ext>
            </p:extLst>
          </p:nvPr>
        </p:nvGraphicFramePr>
        <p:xfrm>
          <a:off x="6766560" y="1600200"/>
          <a:ext cx="48463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766560" y="5532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productos con Importe Alto (&gt;$1,000)  ·  39 con Importe Normal</a:t>
            </a:r>
            <a:endParaRPr lang="en-US" sz="11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F1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99A45">
                <a:alpha val="6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5727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4708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350" dirty="0" err="1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r>
              <a:rPr lang="en-US" sz="1350" dirty="0">
                <a:solidFill>
                  <a:srgbClr val="F7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asciende a $40,359.00, con un 91.5% del valor proveniente de México. Las mochilas son el producto de mayor peso económico, y 11 de los 50 productos se clasifican como "Importe Alto".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del análisis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valor total y la distribución de la inversión antes de comprometer recursos reduce el riesgo de errores y pérdidas económicas en la negociación.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gestionar digitalmente la información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46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1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Word, Excel, PowerPoint y herramientas colaborativas permite a NicaTrade centralizar, analizar y comunicar su información de forma organizada y confiable.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300</Words>
  <Application>Microsoft Office PowerPoint</Application>
  <PresentationFormat>Panorámica</PresentationFormat>
  <Paragraphs>60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Bookman Old Style</vt:lpstr>
      <vt:lpstr>Calibri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Laboratorio Cisco</cp:lastModifiedBy>
  <cp:revision>3</cp:revision>
  <dcterms:created xsi:type="dcterms:W3CDTF">2026-09-17T14:09:27Z</dcterms:created>
  <dcterms:modified xsi:type="dcterms:W3CDTF">2026-09-17T15:11:20Z</dcterms:modified>
</cp:coreProperties>
</file>